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Website Sessions (K)</c:v>
                </c:pt>
              </c:strCache>
            </c:strRef>
          </c:tx>
          <c:spPr>
            <a:solidFill>
              <a:srgbClr val="D6336C"/>
            </a:solidFill>
            <a:ln w="38100" cap="flat">
              <a:solidFill>
                <a:srgbClr val="D6336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336C"/>
              </a:solidFill>
              <a:ln w="9525" cap="flat">
                <a:solidFill>
                  <a:srgbClr val="D6336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Apr</c:v>
                  </c:pt>
                  <c:pt idx="1">
                    <c:v>May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Aug</c:v>
                  </c:pt>
                  <c:pt idx="5">
                    <c:v>Sep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198</c:v>
                </c:pt>
                <c:pt idx="1">
                  <c:v>214</c:v>
                </c:pt>
                <c:pt idx="2">
                  <c:v>231</c:v>
                </c:pt>
                <c:pt idx="3">
                  <c:v>249</c:v>
                </c:pt>
                <c:pt idx="4">
                  <c:v>266</c:v>
                </c:pt>
                <c:pt idx="5">
                  <c:v>284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BCE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5DD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BCE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CF1F6"/>
        </a:solidFill>
        <a:ln>
          <a:noFill/>
        </a:ln>
        <a:effectLst/>
      </c:spPr>
    </c:plotArea>
    <c:plotVisOnly val="1"/>
    <c:dispBlanksAs val="span"/>
  </c:chart>
  <c:spPr>
    <a:solidFill>
      <a:srgbClr val="FCF1F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solidFill>
              <a:srgbClr val="1B8A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E133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Organic</c:v>
                  </c:pt>
                  <c:pt idx="1">
                    <c:v>Paid Search</c:v>
                  </c:pt>
                  <c:pt idx="2">
                    <c:v>Social</c:v>
                  </c:pt>
                  <c:pt idx="3">
                    <c:v>Email</c:v>
                  </c:pt>
                  <c:pt idx="4">
                    <c:v>Referral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2180</c:v>
                </c:pt>
                <c:pt idx="1">
                  <c:v>1640</c:v>
                </c:pt>
                <c:pt idx="2">
                  <c:v>1120</c:v>
                </c:pt>
                <c:pt idx="3">
                  <c:v>980</c:v>
                </c:pt>
                <c:pt idx="4">
                  <c:v>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E133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BCE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CF1F6"/>
        </a:solidFill>
        <a:ln>
          <a:noFill/>
        </a:ln>
        <a:effectLst/>
      </c:spPr>
    </c:plotArea>
    <c:plotVisOnly val="1"/>
    <c:dispBlanksAs val="span"/>
  </c:chart>
  <c:spPr>
    <a:solidFill>
      <a:srgbClr val="FCF1F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D6336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E133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North America</c:v>
                  </c:pt>
                  <c:pt idx="1">
                    <c:v>EMEA</c:v>
                  </c:pt>
                  <c:pt idx="2">
                    <c:v>APAC</c:v>
                  </c:pt>
                  <c:pt idx="3">
                    <c:v>LATAM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880</c:v>
                </c:pt>
                <c:pt idx="1">
                  <c:v>512</c:v>
                </c:pt>
                <c:pt idx="2">
                  <c:v>296</c:v>
                </c:pt>
                <c:pt idx="3">
                  <c:v>132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E133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BCEDD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C6B8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CF1F6"/>
        </a:solidFill>
        <a:ln>
          <a:noFill/>
        </a:ln>
        <a:effectLst/>
      </c:spPr>
    </c:plotArea>
    <c:plotVisOnly val="1"/>
    <c:dispBlanksAs val="span"/>
  </c:chart>
  <c:spPr>
    <a:solidFill>
      <a:srgbClr val="FCF1F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Opportunities</c:v>
                </c:pt>
              </c:strCache>
            </c:strRef>
          </c:tx>
          <c:spPr>
            <a:solidFill>
              <a:srgbClr val="1B8A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E1339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Closed Won</c:v>
                  </c:pt>
                  <c:pt idx="1">
                    <c:v>Negotiation</c:v>
                  </c:pt>
                  <c:pt idx="2">
                    <c:v>Proposal</c:v>
                  </c:pt>
                  <c:pt idx="3">
                    <c:v>Qualified</c:v>
                  </c:pt>
                  <c:pt idx="4">
                    <c:v>Prospecting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148</c:v>
                </c:pt>
                <c:pt idx="1">
                  <c:v>96</c:v>
                </c:pt>
                <c:pt idx="2">
                  <c:v>142</c:v>
                </c:pt>
                <c:pt idx="3">
                  <c:v>210</c:v>
                </c:pt>
                <c:pt idx="4">
                  <c:v>340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E1339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BCEDD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A1F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CF1F6"/>
        </a:solidFill>
        <a:ln>
          <a:noFill/>
        </a:ln>
        <a:effectLst/>
      </c:spPr>
    </c:plotArea>
    <c:plotVisOnly val="1"/>
    <c:dispBlanksAs val="span"/>
  </c:chart>
  <c:spPr>
    <a:solidFill>
      <a:srgbClr val="FCF1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Marketing dashboard: top-line traffic, lead volume, conversion rate and CAC, with a trend line and channel breakdown supporting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 slide: defines each metric shown on the two dashboards and ties marketing performance to sales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Sales dashboard: revenue, deal count, win rate and average deal size, with regional revenue split and pipeline-by-stage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Performance 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•  Trailing 90 days vs. prior period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5C1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545336"/>
            <a:ext cx="22768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284K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80260"/>
            <a:ext cx="22768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Traffic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677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18% vs. last period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5C1A42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2152" y="1545336"/>
            <a:ext cx="22768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6,420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080260"/>
            <a:ext cx="22768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Generated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2677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12% vs. last period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5C1A42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82512" y="1545336"/>
            <a:ext cx="22768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080260"/>
            <a:ext cx="22768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Conversion Rate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2677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0.6 pt vs. last period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4173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5C1A4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62872" y="1545336"/>
            <a:ext cx="22768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$42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262872" y="2080260"/>
            <a:ext cx="22768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Acquisition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22677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9% vs. last period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5349240" cy="384048"/>
          </a:xfrm>
          <a:prstGeom prst="rect">
            <a:avLst/>
          </a:prstGeom>
          <a:solidFill>
            <a:srgbClr val="FCF1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28803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1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Traffic Trend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3246120"/>
          <a:ext cx="5349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080760" y="2880360"/>
            <a:ext cx="5623560" cy="384048"/>
          </a:xfrm>
          <a:prstGeom prst="rect">
            <a:avLst/>
          </a:prstGeom>
          <a:solidFill>
            <a:srgbClr val="FCF1F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080760" y="288036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1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by Marketing Channel</a:t>
            </a:r>
            <a:endParaRPr lang="en-US" sz="14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6080760" y="3246120"/>
          <a:ext cx="5623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Read These Dashboards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definitions, data sources, and the story behind the numbers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Dashboard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365760" cy="365760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1228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Dashboard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12264"/>
            <a:ext cx="128016" cy="128016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057400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Traffic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331720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 across all channels, tracked from Google Analytics.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53512"/>
            <a:ext cx="128016" cy="128016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2898648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Generated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172968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fills, downloads, and demo requests captured by the marketing automation platform.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128016" cy="128016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739896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014216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site visitors who become a marketing-qualified lead.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636008"/>
            <a:ext cx="128016" cy="128016"/>
          </a:xfrm>
          <a:prstGeom prst="ellipse">
            <a:avLst/>
          </a:prstGeom>
          <a:solidFill>
            <a:srgbClr val="D633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4581144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Acquisition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855464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marketing spend divided by leads generated in the period.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2112264"/>
            <a:ext cx="128016" cy="128016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01968" y="2057400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01968" y="2331720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Closed-won bookings recognized in the CRM for the period.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09360" y="2953512"/>
            <a:ext cx="128016" cy="128016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01968" y="2898648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Closed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601968" y="3172968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opportunities marked closed-won.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3794760"/>
            <a:ext cx="128016" cy="128016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01968" y="3739896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601968" y="4014216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Closed-won deals as a share of all closed opportunities.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4636008"/>
            <a:ext cx="128016" cy="128016"/>
          </a:xfrm>
          <a:prstGeom prst="ellipse">
            <a:avLst/>
          </a:prstGeom>
          <a:solidFill>
            <a:srgbClr val="1B8A5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01968" y="4581144"/>
            <a:ext cx="5102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Deal Size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01968" y="4855464"/>
            <a:ext cx="510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closed-won revenue divided by deals closed.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580644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4E133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77240" y="58064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Marketing-sourced leads are converting to closed-won deals at a healthy rate this quarter — traffic and lead growth on the left are translating directly into the revenue and win-rate gains on the right.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 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 •  Trailing 90 days vs. prior period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5C1A42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1792" y="1545336"/>
            <a:ext cx="22768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$1.82M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080260"/>
            <a:ext cx="22768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Closed-Won Revenue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677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22% vs. last period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5C1A42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02152" y="1545336"/>
            <a:ext cx="22768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2080260"/>
            <a:ext cx="22768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Closed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502152" y="22677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15% vs. last period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5C1A42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382512" y="1545336"/>
            <a:ext cx="22768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82512" y="2080260"/>
            <a:ext cx="22768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82512" y="22677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4 pt vs. last period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98280" y="14173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5C1A42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62872" y="1545336"/>
            <a:ext cx="227685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13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$12.3K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262872" y="2080260"/>
            <a:ext cx="22768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F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Deal Size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2267712"/>
            <a:ext cx="2276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6% vs. last period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5349240" cy="384048"/>
          </a:xfrm>
          <a:prstGeom prst="rect">
            <a:avLst/>
          </a:prstGeom>
          <a:solidFill>
            <a:srgbClr val="FCF1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288036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1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Region</a:t>
            </a:r>
            <a:endParaRPr lang="en-US" sz="14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457200" y="3246120"/>
          <a:ext cx="5349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080760" y="2880360"/>
            <a:ext cx="5623560" cy="384048"/>
          </a:xfrm>
          <a:prstGeom prst="rect">
            <a:avLst/>
          </a:prstGeom>
          <a:solidFill>
            <a:srgbClr val="FCF1F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080760" y="288036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E13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by Stage</a:t>
            </a:r>
            <a:endParaRPr lang="en-US" sz="1400" dirty="0"/>
          </a:p>
        </p:txBody>
      </p:sp>
      <p:graphicFrame>
        <p:nvGraphicFramePr>
          <p:cNvPr id="25" name="Chart 1" descr=""/>
          <p:cNvGraphicFramePr/>
          <p:nvPr/>
        </p:nvGraphicFramePr>
        <p:xfrm>
          <a:off x="6080760" y="3246120"/>
          <a:ext cx="5623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2026-09-09T07:04:33Z</dcterms:created>
  <dcterms:modified xsi:type="dcterms:W3CDTF">2026-09-09T07:04:33Z</dcterms:modified>
</cp:coreProperties>
</file>